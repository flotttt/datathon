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ef2745af04_6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ef2745af04_6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ef2745af04_6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f2745af04_6_1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ef2745af04_6_1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ef2745af04_6_1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f2745af04_9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ef2745af04_9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ef2745af04_9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f2745af04_6_6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ef2745af04_6_6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ef2745af04_6_6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f2745af04_6_8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ef2745af04_6_8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ef2745af04_6_8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f2745af04_6_13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ef2745af04_6_13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ef2745af04_6_13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f2745af04_6_15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ef2745af04_6_15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ef2745af04_6_15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f2745af04_6_16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ef2745af04_6_16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ef2745af04_6_16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f1efb32f8_28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ef1efb32f8_28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f2745af04_6_12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ef2745af04_6_12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ef2745af04_6_12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f2745af04_20_0)">
  <p:cSld name="Generated (g3ef2745af04_20_0)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430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/>
          <p:nvPr/>
        </p:nvSpPr>
        <p:spPr>
          <a:xfrm>
            <a:off x="617220" y="1028700"/>
            <a:ext cx="5486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fr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DATATHON · JOUR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6"/>
          <p:cNvSpPr/>
          <p:nvPr/>
        </p:nvSpPr>
        <p:spPr>
          <a:xfrm>
            <a:off x="617220" y="1405890"/>
            <a:ext cx="78867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mbria"/>
              <a:buNone/>
            </a:pPr>
            <a:r>
              <a:rPr b="1" i="0" lang="fr" sz="3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Anatomie d'un déferlement viral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6"/>
          <p:cNvSpPr/>
          <p:nvPr/>
        </p:nvSpPr>
        <p:spPr>
          <a:xfrm>
            <a:off x="617220" y="2228850"/>
            <a:ext cx="7543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6EA"/>
              </a:buClr>
              <a:buSzPts val="1500"/>
              <a:buFont typeface="Calibri"/>
              <a:buNone/>
            </a:pPr>
            <a:r>
              <a:rPr b="0" i="0" lang="fr" sz="1500" u="none" cap="none" strike="noStrike">
                <a:solidFill>
                  <a:srgbClr val="CFC6EA"/>
                </a:solidFill>
                <a:latin typeface="Calibri"/>
                <a:ea typeface="Calibri"/>
                <a:cs typeface="Calibri"/>
                <a:sym typeface="Calibri"/>
              </a:rPr>
              <a:t>Comprendre la crise X autour de l'affaire Ultia × CNC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6"/>
          <p:cNvSpPr/>
          <p:nvPr/>
        </p:nvSpPr>
        <p:spPr>
          <a:xfrm>
            <a:off x="617220" y="3223260"/>
            <a:ext cx="19202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600"/>
              <a:buFont typeface="Cambria"/>
              <a:buNone/>
            </a:pPr>
            <a:r>
              <a:rPr b="1" i="0" lang="fr" sz="26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35 396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6"/>
          <p:cNvSpPr/>
          <p:nvPr/>
        </p:nvSpPr>
        <p:spPr>
          <a:xfrm>
            <a:off x="617220" y="373761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A6CE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AFA6CE"/>
                </a:solidFill>
                <a:latin typeface="Calibri"/>
                <a:ea typeface="Calibri"/>
                <a:cs typeface="Calibri"/>
                <a:sym typeface="Calibri"/>
              </a:rPr>
              <a:t>messages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2674620" y="3223260"/>
            <a:ext cx="19202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600"/>
              <a:buFont typeface="Cambria"/>
              <a:buNone/>
            </a:pPr>
            <a:r>
              <a:rPr b="1" i="0" lang="fr" sz="26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10 437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2674620" y="373761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A6CE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AFA6CE"/>
                </a:solidFill>
                <a:latin typeface="Calibri"/>
                <a:ea typeface="Calibri"/>
                <a:cs typeface="Calibri"/>
                <a:sym typeface="Calibri"/>
              </a:rPr>
              <a:t>comptes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4732020" y="3223260"/>
            <a:ext cx="19202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600"/>
              <a:buFont typeface="Cambria"/>
              <a:buNone/>
            </a:pPr>
            <a:r>
              <a:rPr b="1" i="0" lang="fr" sz="26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43 jours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4732020" y="373761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A6CE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AFA6CE"/>
                </a:solidFill>
                <a:latin typeface="Calibri"/>
                <a:ea typeface="Calibri"/>
                <a:cs typeface="Calibri"/>
                <a:sym typeface="Calibri"/>
              </a:rPr>
              <a:t>19 mars → 1 mai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617220" y="4594860"/>
            <a:ext cx="6172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2AE"/>
              </a:buClr>
              <a:buSzPts val="1000"/>
              <a:buFont typeface="Calibri"/>
              <a:buNone/>
            </a:pPr>
            <a:r>
              <a:rPr b="0" i="1" lang="fr" sz="1000" u="none" cap="none" strike="noStrike">
                <a:solidFill>
                  <a:srgbClr val="8B82AE"/>
                </a:solidFill>
                <a:latin typeface="Calibri"/>
                <a:ea typeface="Calibri"/>
                <a:cs typeface="Calibri"/>
                <a:sym typeface="Calibri"/>
              </a:rPr>
              <a:t>Grille 5 axes · Timeline · Chiffres clés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FA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/>
          <p:nvPr/>
        </p:nvSpPr>
        <p:spPr>
          <a:xfrm>
            <a:off x="480060" y="34290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B38"/>
              </a:buClr>
              <a:buSzPts val="2300"/>
              <a:buFont typeface="Cambria"/>
              <a:buNone/>
            </a:pPr>
            <a:r>
              <a:rPr b="1" i="0" lang="fr" sz="2300" u="none" cap="none" strike="noStrike">
                <a:solidFill>
                  <a:srgbClr val="211B38"/>
                </a:solidFill>
                <a:latin typeface="Cambria"/>
                <a:ea typeface="Cambria"/>
                <a:cs typeface="Cambria"/>
                <a:sym typeface="Cambria"/>
              </a:rPr>
              <a:t>Avant tout chiffre : ce qu'on analyse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457210" y="85725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80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6B6480"/>
                </a:solidFill>
                <a:latin typeface="Calibri"/>
                <a:ea typeface="Calibri"/>
                <a:cs typeface="Calibri"/>
                <a:sym typeface="Calibri"/>
              </a:rPr>
              <a:t>Les faits de départ sont vrais. Ce n'est pas un cas de fausse information — c'est un emballement.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480060" y="1474470"/>
            <a:ext cx="2606040" cy="219456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7"/>
          <p:cNvSpPr/>
          <p:nvPr/>
        </p:nvSpPr>
        <p:spPr>
          <a:xfrm>
            <a:off x="720090" y="1714500"/>
            <a:ext cx="377190" cy="377190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7"/>
          <p:cNvSpPr/>
          <p:nvPr/>
        </p:nvSpPr>
        <p:spPr>
          <a:xfrm>
            <a:off x="720090" y="1714500"/>
            <a:ext cx="3771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fr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720090" y="2228850"/>
            <a:ext cx="21259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400"/>
              <a:buFont typeface="Cambria"/>
              <a:buNone/>
            </a:pPr>
            <a:r>
              <a:rPr b="1" i="0" lang="fr" sz="1400" u="none" cap="none" strike="noStrike">
                <a:solidFill>
                  <a:srgbClr val="5B21B6"/>
                </a:solidFill>
                <a:latin typeface="Cambria"/>
                <a:ea typeface="Cambria"/>
                <a:cs typeface="Cambria"/>
                <a:sym typeface="Cambria"/>
              </a:rPr>
              <a:t>LE FAIT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720090" y="2606040"/>
            <a:ext cx="21259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B38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211B38"/>
                </a:solidFill>
                <a:latin typeface="Calibri"/>
                <a:ea typeface="Calibri"/>
                <a:cs typeface="Calibri"/>
                <a:sym typeface="Calibri"/>
              </a:rPr>
              <a:t>Les propos d'Ultia en live, le communiqué du CNC qui l'écarte. Vérifiable, daté.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3271266" y="1474470"/>
            <a:ext cx="2606040" cy="219456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3511296" y="1714500"/>
            <a:ext cx="377190" cy="37719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3511296" y="1714500"/>
            <a:ext cx="3771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fr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3511296" y="2228850"/>
            <a:ext cx="21259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mbria"/>
              <a:buNone/>
            </a:pPr>
            <a:r>
              <a:rPr b="1" i="0" lang="fr" sz="1400" u="none" cap="none" strike="noStrike">
                <a:solidFill>
                  <a:srgbClr val="7C3AED"/>
                </a:solidFill>
                <a:latin typeface="Cambria"/>
                <a:ea typeface="Cambria"/>
                <a:cs typeface="Cambria"/>
                <a:sym typeface="Cambria"/>
              </a:rPr>
              <a:t>LE NARRATIF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3511296" y="2606040"/>
            <a:ext cx="21259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B38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211B38"/>
                </a:solidFill>
                <a:latin typeface="Calibri"/>
                <a:ea typeface="Calibri"/>
                <a:cs typeface="Calibri"/>
                <a:sym typeface="Calibri"/>
              </a:rPr>
              <a:t>L'interprétation de chaque camp : « censure » vs « copinage » vs « défense ».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6062472" y="1474470"/>
            <a:ext cx="2606040" cy="219456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6302502" y="1714500"/>
            <a:ext cx="377190" cy="37719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6302502" y="1714500"/>
            <a:ext cx="3771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fr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6302502" y="2228850"/>
            <a:ext cx="21259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400"/>
              <a:buFont typeface="Cambria"/>
              <a:buNone/>
            </a:pPr>
            <a:r>
              <a:rPr b="1" i="0" lang="fr" sz="1400" u="none" cap="none" strike="noStrike">
                <a:solidFill>
                  <a:srgbClr val="EA580C"/>
                </a:solidFill>
                <a:latin typeface="Cambria"/>
                <a:ea typeface="Cambria"/>
                <a:cs typeface="Cambria"/>
                <a:sym typeface="Cambria"/>
              </a:rPr>
              <a:t>LA DYNAMIQUE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6302502" y="2606040"/>
            <a:ext cx="21259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B38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211B38"/>
                </a:solidFill>
                <a:latin typeface="Calibri"/>
                <a:ea typeface="Calibri"/>
                <a:cs typeface="Calibri"/>
                <a:sym typeface="Calibri"/>
              </a:rPr>
              <a:t>Qui amplifie, comment, à quelle vitesse. → Le cœur de notre analyse.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480060" y="390906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Règle : </a:t>
            </a:r>
            <a:r>
              <a:rPr b="0" i="0" lang="fr" sz="1100" u="none" cap="none" strike="noStrike">
                <a:solidFill>
                  <a:srgbClr val="211B38"/>
                </a:solidFill>
                <a:latin typeface="Calibri"/>
                <a:ea typeface="Calibri"/>
                <a:cs typeface="Calibri"/>
                <a:sym typeface="Calibri"/>
              </a:rPr>
              <a:t>décrire avant de juger. Ton neutre — analyse de dynamique, pas débat politique.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F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480060" y="34290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B38"/>
              </a:buClr>
              <a:buSzPts val="2300"/>
              <a:buFont typeface="Cambria"/>
              <a:buNone/>
            </a:pPr>
            <a:r>
              <a:rPr b="1" i="0" lang="fr" sz="2300" u="none" cap="none" strike="noStrike">
                <a:solidFill>
                  <a:srgbClr val="211B38"/>
                </a:solidFill>
                <a:latin typeface="Cambria"/>
                <a:ea typeface="Cambria"/>
                <a:cs typeface="Cambria"/>
                <a:sym typeface="Cambria"/>
              </a:rPr>
              <a:t>Timeline — un pic violent, puis une braise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480060" y="836676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80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6B6480"/>
                </a:solidFill>
                <a:latin typeface="Calibri"/>
                <a:ea typeface="Calibri"/>
                <a:cs typeface="Calibri"/>
                <a:sym typeface="Calibri"/>
              </a:rPr>
              <a:t>Explosion le 26-27 mars après le clip viral (71 % du volume en 5 j). Second pic le 8 avril : la suspension du fonds relance la crise.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" y="1371600"/>
            <a:ext cx="5692140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/>
          <p:nvPr/>
        </p:nvSpPr>
        <p:spPr>
          <a:xfrm>
            <a:off x="6412230" y="1371600"/>
            <a:ext cx="2228850" cy="3154680"/>
          </a:xfrm>
          <a:prstGeom prst="roundRect">
            <a:avLst>
              <a:gd fmla="val 2462" name="adj"/>
            </a:avLst>
          </a:prstGeom>
          <a:solidFill>
            <a:srgbClr val="1A1430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6583680" y="154305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LA CHRONOLOGIE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6583680" y="1865376"/>
            <a:ext cx="178308" cy="17830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2" name="Google Shape;102;p18"/>
          <p:cNvCxnSpPr/>
          <p:nvPr/>
        </p:nvCxnSpPr>
        <p:spPr>
          <a:xfrm>
            <a:off x="6672834" y="2043684"/>
            <a:ext cx="0" cy="356616"/>
          </a:xfrm>
          <a:prstGeom prst="straightConnector1">
            <a:avLst/>
          </a:prstGeom>
          <a:noFill/>
          <a:ln cap="flat" cmpd="sng" w="19050">
            <a:solidFill>
              <a:srgbClr val="4A3F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18"/>
          <p:cNvSpPr/>
          <p:nvPr/>
        </p:nvSpPr>
        <p:spPr>
          <a:xfrm>
            <a:off x="6844284" y="1837944"/>
            <a:ext cx="17145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25/03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6844284" y="2023110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BDB4D8"/>
              </a:buClr>
              <a:buSzPts val="800"/>
              <a:buFont typeface="Calibri"/>
              <a:buNone/>
            </a:pPr>
            <a:r>
              <a:rPr b="0" i="0" lang="fr" sz="800" u="none" cap="none" strike="noStrike">
                <a:solidFill>
                  <a:srgbClr val="BDB4D8"/>
                </a:solidFill>
                <a:latin typeface="Calibri"/>
                <a:ea typeface="Calibri"/>
                <a:cs typeface="Calibri"/>
                <a:sym typeface="Calibri"/>
              </a:rPr>
              <a:t>Live Twitch d'Ultia — l'étincelle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6583680" y="2400300"/>
            <a:ext cx="178308" cy="17830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" name="Google Shape;106;p18"/>
          <p:cNvCxnSpPr/>
          <p:nvPr/>
        </p:nvCxnSpPr>
        <p:spPr>
          <a:xfrm>
            <a:off x="6672834" y="2578608"/>
            <a:ext cx="0" cy="356616"/>
          </a:xfrm>
          <a:prstGeom prst="straightConnector1">
            <a:avLst/>
          </a:prstGeom>
          <a:noFill/>
          <a:ln cap="flat" cmpd="sng" w="19050">
            <a:solidFill>
              <a:srgbClr val="4A3F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18"/>
          <p:cNvSpPr/>
          <p:nvPr/>
        </p:nvSpPr>
        <p:spPr>
          <a:xfrm>
            <a:off x="6844284" y="2372868"/>
            <a:ext cx="17145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26/03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6844284" y="2558034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BDB4D8"/>
              </a:buClr>
              <a:buSzPts val="800"/>
              <a:buFont typeface="Calibri"/>
              <a:buNone/>
            </a:pPr>
            <a:r>
              <a:rPr b="0" i="0" lang="fr" sz="800" u="none" cap="none" strike="noStrike">
                <a:solidFill>
                  <a:srgbClr val="BDB4D8"/>
                </a:solidFill>
                <a:latin typeface="Calibri"/>
                <a:ea typeface="Calibri"/>
                <a:cs typeface="Calibri"/>
                <a:sym typeface="Calibri"/>
              </a:rPr>
              <a:t>Clip viral @TwitchGauchiste → le pic démarre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6583680" y="2935224"/>
            <a:ext cx="178308" cy="17830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" name="Google Shape;110;p18"/>
          <p:cNvCxnSpPr/>
          <p:nvPr/>
        </p:nvCxnSpPr>
        <p:spPr>
          <a:xfrm>
            <a:off x="6672834" y="3113532"/>
            <a:ext cx="0" cy="356616"/>
          </a:xfrm>
          <a:prstGeom prst="straightConnector1">
            <a:avLst/>
          </a:prstGeom>
          <a:noFill/>
          <a:ln cap="flat" cmpd="sng" w="19050">
            <a:solidFill>
              <a:srgbClr val="4A3F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18"/>
          <p:cNvSpPr/>
          <p:nvPr/>
        </p:nvSpPr>
        <p:spPr>
          <a:xfrm>
            <a:off x="6844284" y="2907792"/>
            <a:ext cx="17145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31/03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6844284" y="3092958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BDB4D8"/>
              </a:buClr>
              <a:buSzPts val="800"/>
              <a:buFont typeface="Calibri"/>
              <a:buNone/>
            </a:pPr>
            <a:r>
              <a:rPr b="0" i="0" lang="fr" sz="800" u="none" cap="none" strike="noStrike">
                <a:solidFill>
                  <a:srgbClr val="BDB4D8"/>
                </a:solidFill>
                <a:latin typeface="Calibri"/>
                <a:ea typeface="Calibri"/>
                <a:cs typeface="Calibri"/>
                <a:sym typeface="Calibri"/>
              </a:rPr>
              <a:t>Ultia se défend publiquement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6583680" y="3470148"/>
            <a:ext cx="178308" cy="17830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" name="Google Shape;114;p18"/>
          <p:cNvCxnSpPr/>
          <p:nvPr/>
        </p:nvCxnSpPr>
        <p:spPr>
          <a:xfrm>
            <a:off x="6672834" y="3648456"/>
            <a:ext cx="0" cy="356616"/>
          </a:xfrm>
          <a:prstGeom prst="straightConnector1">
            <a:avLst/>
          </a:prstGeom>
          <a:noFill/>
          <a:ln cap="flat" cmpd="sng" w="19050">
            <a:solidFill>
              <a:srgbClr val="4A3F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18"/>
          <p:cNvSpPr/>
          <p:nvPr/>
        </p:nvSpPr>
        <p:spPr>
          <a:xfrm>
            <a:off x="6844284" y="3442716"/>
            <a:ext cx="17145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08/04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6844284" y="3627882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BDB4D8"/>
              </a:buClr>
              <a:buSzPts val="800"/>
              <a:buFont typeface="Calibri"/>
              <a:buNone/>
            </a:pPr>
            <a:r>
              <a:rPr b="0" i="0" lang="fr" sz="800" u="none" cap="none" strike="noStrike">
                <a:solidFill>
                  <a:srgbClr val="BDB4D8"/>
                </a:solidFill>
                <a:latin typeface="Calibri"/>
                <a:ea typeface="Calibri"/>
                <a:cs typeface="Calibri"/>
                <a:sym typeface="Calibri"/>
              </a:rPr>
              <a:t>Suspension du fonds (3 M€) → 2ᵉ pic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6583680" y="4005072"/>
            <a:ext cx="178308" cy="17830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6844284" y="3977640"/>
            <a:ext cx="17145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09/04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6844284" y="4162806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BDB4D8"/>
              </a:buClr>
              <a:buSzPts val="800"/>
              <a:buFont typeface="Calibri"/>
              <a:buNone/>
            </a:pPr>
            <a:r>
              <a:rPr b="0" i="0" lang="fr" sz="800" u="none" cap="none" strike="noStrike">
                <a:solidFill>
                  <a:srgbClr val="BDB4D8"/>
                </a:solidFill>
                <a:latin typeface="Calibri"/>
                <a:ea typeface="Calibri"/>
                <a:cs typeface="Calibri"/>
                <a:sym typeface="Calibri"/>
              </a:rPr>
              <a:t>Enquête Le Figaro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43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480060" y="37719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i="0" lang="fr" sz="2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 chiffres qui résument la crise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480060" y="1165860"/>
            <a:ext cx="2606040" cy="2674620"/>
          </a:xfrm>
          <a:prstGeom prst="roundRect">
            <a:avLst>
              <a:gd fmla="val 2105" name="adj"/>
            </a:avLst>
          </a:prstGeom>
          <a:solidFill>
            <a:srgbClr val="26203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/>
          <p:nvPr/>
        </p:nvSpPr>
        <p:spPr>
          <a:xfrm>
            <a:off x="685800" y="157734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4500"/>
              <a:buFont typeface="Cambria"/>
              <a:buNone/>
            </a:pPr>
            <a:r>
              <a:rPr b="1" i="0" lang="fr" sz="45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85,8 %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699516" y="2400300"/>
            <a:ext cx="21945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retweets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699516" y="2777490"/>
            <a:ext cx="2194560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9B0D6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B9B0D6"/>
                </a:solidFill>
                <a:latin typeface="Calibri"/>
                <a:ea typeface="Calibri"/>
                <a:cs typeface="Calibri"/>
                <a:sym typeface="Calibri"/>
              </a:rPr>
              <a:t>Une crise d'amplification, pas de création de contenu.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3271266" y="1165860"/>
            <a:ext cx="2606040" cy="2674620"/>
          </a:xfrm>
          <a:prstGeom prst="roundRect">
            <a:avLst>
              <a:gd fmla="val 2105" name="adj"/>
            </a:avLst>
          </a:prstGeom>
          <a:solidFill>
            <a:srgbClr val="26203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3477006" y="157734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4500"/>
              <a:buFont typeface="Cambria"/>
              <a:buNone/>
            </a:pPr>
            <a:r>
              <a:rPr b="1" i="0" lang="fr" sz="4500" u="none" cap="none" strike="noStrike">
                <a:solidFill>
                  <a:srgbClr val="EA580C"/>
                </a:solidFill>
                <a:latin typeface="Cambria"/>
                <a:ea typeface="Cambria"/>
                <a:cs typeface="Cambria"/>
                <a:sym typeface="Cambria"/>
              </a:rPr>
              <a:t>671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3490722" y="2400300"/>
            <a:ext cx="21945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messages originaux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3490722" y="2777490"/>
            <a:ext cx="2194560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9B0D6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B9B0D6"/>
                </a:solidFill>
                <a:latin typeface="Calibri"/>
                <a:ea typeface="Calibri"/>
                <a:cs typeface="Calibri"/>
                <a:sym typeface="Calibri"/>
              </a:rPr>
              <a:t>Sur 35 396. Tout repose sur une poignée de sources.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6062472" y="1165860"/>
            <a:ext cx="2606040" cy="2674620"/>
          </a:xfrm>
          <a:prstGeom prst="roundRect">
            <a:avLst>
              <a:gd fmla="val 2105" name="adj"/>
            </a:avLst>
          </a:prstGeom>
          <a:solidFill>
            <a:srgbClr val="26203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6268212" y="1577340"/>
            <a:ext cx="2194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4500"/>
              <a:buFont typeface="Cambria"/>
              <a:buNone/>
            </a:pPr>
            <a:r>
              <a:rPr b="1" i="0" lang="fr" sz="4500" u="none" cap="none" strike="noStrike">
                <a:solidFill>
                  <a:srgbClr val="7C3AED"/>
                </a:solidFill>
                <a:latin typeface="Cambria"/>
                <a:ea typeface="Cambria"/>
                <a:cs typeface="Cambria"/>
                <a:sym typeface="Cambria"/>
              </a:rPr>
              <a:t>751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6281928" y="2400300"/>
            <a:ext cx="21945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messages / heure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6281928" y="2777490"/>
            <a:ext cx="2194560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9B0D6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B9B0D6"/>
                </a:solidFill>
                <a:latin typeface="Calibri"/>
                <a:ea typeface="Calibri"/>
                <a:cs typeface="Calibri"/>
                <a:sym typeface="Calibri"/>
              </a:rPr>
              <a:t>Le pic, le 26 mars à 16h. La vitesse du déferlement.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480060" y="421767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2AE"/>
              </a:buClr>
              <a:buSzPts val="1100"/>
              <a:buFont typeface="Calibri"/>
              <a:buNone/>
            </a:pPr>
            <a:r>
              <a:rPr b="0" i="1" lang="fr" sz="1100" u="none" cap="none" strike="noStrike">
                <a:solidFill>
                  <a:srgbClr val="8B82AE"/>
                </a:solidFill>
                <a:latin typeface="Calibri"/>
                <a:ea typeface="Calibri"/>
                <a:cs typeface="Calibri"/>
                <a:sym typeface="Calibri"/>
              </a:rPr>
              <a:t>Portée cumulée du corpus : ~77,8 M de reach · 52,1 M d'impressions.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F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/>
          <p:nvPr/>
        </p:nvSpPr>
        <p:spPr>
          <a:xfrm>
            <a:off x="480060" y="30861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B38"/>
              </a:buClr>
              <a:buSzPts val="2300"/>
              <a:buFont typeface="Cambria"/>
              <a:buNone/>
            </a:pPr>
            <a:r>
              <a:rPr b="1" i="0" lang="fr" sz="2300" u="none" cap="none" strike="noStrike">
                <a:solidFill>
                  <a:srgbClr val="211B38"/>
                </a:solidFill>
                <a:latin typeface="Cambria"/>
                <a:ea typeface="Cambria"/>
                <a:cs typeface="Cambria"/>
                <a:sym typeface="Cambria"/>
              </a:rPr>
              <a:t>La grille d'analyse — 5 axes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480060" y="960120"/>
            <a:ext cx="2606040" cy="174879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0"/>
          <p:cNvSpPr/>
          <p:nvPr/>
        </p:nvSpPr>
        <p:spPr>
          <a:xfrm>
            <a:off x="685800" y="1165860"/>
            <a:ext cx="342900" cy="342900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0"/>
          <p:cNvSpPr/>
          <p:nvPr/>
        </p:nvSpPr>
        <p:spPr>
          <a:xfrm>
            <a:off x="685800" y="116586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fr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1131570" y="1179576"/>
            <a:ext cx="18516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200"/>
              <a:buFont typeface="Cambria"/>
              <a:buNone/>
            </a:pPr>
            <a:r>
              <a:rPr b="1" i="0" lang="fr" sz="1200" u="none" cap="none" strike="noStrike">
                <a:solidFill>
                  <a:srgbClr val="5B21B6"/>
                </a:solidFill>
                <a:latin typeface="Cambria"/>
                <a:ea typeface="Cambria"/>
                <a:cs typeface="Cambria"/>
                <a:sym typeface="Cambria"/>
              </a:rPr>
              <a:t>ACTEURS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1131570" y="1399032"/>
            <a:ext cx="18516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80"/>
              </a:buClr>
              <a:buSzPts val="900"/>
              <a:buFont typeface="Calibri"/>
              <a:buNone/>
            </a:pPr>
            <a:r>
              <a:rPr b="0" i="1" lang="fr" sz="900" u="none" cap="none" strike="noStrike">
                <a:solidFill>
                  <a:srgbClr val="6B6480"/>
                </a:solidFill>
                <a:latin typeface="Calibri"/>
                <a:ea typeface="Calibri"/>
                <a:cs typeface="Calibri"/>
                <a:sym typeface="Calibri"/>
              </a:rPr>
              <a:t>Qui parle 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685800" y="1700784"/>
            <a:ext cx="2228850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B38"/>
              </a:buClr>
              <a:buSzPts val="900"/>
              <a:buFont typeface="Calibri"/>
              <a:buNone/>
            </a:pPr>
            <a:r>
              <a:rPr b="0" i="0" lang="fr" sz="900" u="none" cap="none" strike="noStrike">
                <a:solidFill>
                  <a:srgbClr val="211B38"/>
                </a:solidFill>
                <a:latin typeface="Calibri"/>
                <a:ea typeface="Calibri"/>
                <a:cs typeface="Calibri"/>
                <a:sym typeface="Calibri"/>
              </a:rPr>
              <a:t>Une foule relaie une poignée. 74 % des comptes ont &lt; 1 000 abonnés ; 8 % certifiés. Têtes d'affiche : @EugenieBastie, élus (Bellamy, Maréchal), médias militants.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3271266" y="960120"/>
            <a:ext cx="2606040" cy="174879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3477006" y="1165860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0"/>
          <p:cNvSpPr/>
          <p:nvPr/>
        </p:nvSpPr>
        <p:spPr>
          <a:xfrm>
            <a:off x="3477006" y="116586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fr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3922776" y="1179576"/>
            <a:ext cx="18516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mbria"/>
              <a:buNone/>
            </a:pPr>
            <a:r>
              <a:rPr b="1" i="0" lang="fr" sz="1200" u="none" cap="none" strike="noStrike">
                <a:solidFill>
                  <a:srgbClr val="7C3AED"/>
                </a:solidFill>
                <a:latin typeface="Cambria"/>
                <a:ea typeface="Cambria"/>
                <a:cs typeface="Cambria"/>
                <a:sym typeface="Cambria"/>
              </a:rPr>
              <a:t>NARRATIFS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3922776" y="1399032"/>
            <a:ext cx="18516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80"/>
              </a:buClr>
              <a:buSzPts val="900"/>
              <a:buFont typeface="Calibri"/>
              <a:buNone/>
            </a:pPr>
            <a:r>
              <a:rPr b="0" i="1" lang="fr" sz="900" u="none" cap="none" strike="noStrike">
                <a:solidFill>
                  <a:srgbClr val="6B6480"/>
                </a:solidFill>
                <a:latin typeface="Calibri"/>
                <a:ea typeface="Calibri"/>
                <a:cs typeface="Calibri"/>
                <a:sym typeface="Calibri"/>
              </a:rPr>
              <a:t>Quels discours 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3477006" y="1700784"/>
            <a:ext cx="2228850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B38"/>
              </a:buClr>
              <a:buSzPts val="900"/>
              <a:buFont typeface="Calibri"/>
              <a:buNone/>
            </a:pPr>
            <a:r>
              <a:rPr b="0" i="0" lang="fr" sz="900" u="none" cap="none" strike="noStrike">
                <a:solidFill>
                  <a:srgbClr val="211B38"/>
                </a:solidFill>
                <a:latin typeface="Calibri"/>
                <a:ea typeface="Calibri"/>
                <a:cs typeface="Calibri"/>
                <a:sym typeface="Calibri"/>
              </a:rPr>
              <a:t>3 camps : « copinage » (fonds publics, talent), « censure » (extrême droite écartée), « défense d'Ultia ». Lexique : argent, subventions, gauche/droite.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6062472" y="960120"/>
            <a:ext cx="2606040" cy="174879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6268212" y="1165860"/>
            <a:ext cx="342900" cy="3429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6268212" y="116586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fr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6713982" y="1179576"/>
            <a:ext cx="18516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200"/>
              <a:buFont typeface="Cambria"/>
              <a:buNone/>
            </a:pPr>
            <a:r>
              <a:rPr b="1" i="0" lang="fr" sz="1200" u="none" cap="none" strike="noStrike">
                <a:solidFill>
                  <a:srgbClr val="EA580C"/>
                </a:solidFill>
                <a:latin typeface="Cambria"/>
                <a:ea typeface="Cambria"/>
                <a:cs typeface="Cambria"/>
                <a:sym typeface="Cambria"/>
              </a:rPr>
              <a:t>PROPAGATION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6713982" y="1399032"/>
            <a:ext cx="18516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80"/>
              </a:buClr>
              <a:buSzPts val="900"/>
              <a:buFont typeface="Calibri"/>
              <a:buNone/>
            </a:pPr>
            <a:r>
              <a:rPr b="0" i="1" lang="fr" sz="900" u="none" cap="none" strike="noStrike">
                <a:solidFill>
                  <a:srgbClr val="6B6480"/>
                </a:solidFill>
                <a:latin typeface="Calibri"/>
                <a:ea typeface="Calibri"/>
                <a:cs typeface="Calibri"/>
                <a:sym typeface="Calibri"/>
              </a:rPr>
              <a:t>Comment circule 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6268212" y="1700784"/>
            <a:ext cx="2228850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B38"/>
              </a:buClr>
              <a:buSzPts val="900"/>
              <a:buFont typeface="Calibri"/>
              <a:buNone/>
            </a:pPr>
            <a:r>
              <a:rPr b="0" i="0" lang="fr" sz="900" u="none" cap="none" strike="noStrike">
                <a:solidFill>
                  <a:srgbClr val="211B38"/>
                </a:solidFill>
                <a:latin typeface="Calibri"/>
                <a:ea typeface="Calibri"/>
                <a:cs typeface="Calibri"/>
                <a:sym typeface="Calibri"/>
              </a:rPr>
              <a:t>Pic 26-27 mars (71 % du volume en 5 j). Puis traîne d'un mois avec rebond les 8-10 avr. Pas une extinction nette.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1875663" y="2846070"/>
            <a:ext cx="2606040" cy="174879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2081403" y="3051810"/>
            <a:ext cx="342900" cy="342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2081403" y="305181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fr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2527173" y="3065526"/>
            <a:ext cx="18516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mbria"/>
              <a:buNone/>
            </a:pPr>
            <a:r>
              <a:rPr b="1" i="0" lang="fr" sz="12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COORDINATION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2527173" y="3284982"/>
            <a:ext cx="18516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80"/>
              </a:buClr>
              <a:buSzPts val="900"/>
              <a:buFont typeface="Calibri"/>
              <a:buNone/>
            </a:pPr>
            <a:r>
              <a:rPr b="0" i="1" lang="fr" sz="900" u="none" cap="none" strike="noStrike">
                <a:solidFill>
                  <a:srgbClr val="6B6480"/>
                </a:solidFill>
                <a:latin typeface="Calibri"/>
                <a:ea typeface="Calibri"/>
                <a:cs typeface="Calibri"/>
                <a:sym typeface="Calibri"/>
              </a:rPr>
              <a:t>Est-ce orchestré 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2081403" y="3586734"/>
            <a:ext cx="2228850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B38"/>
              </a:buClr>
              <a:buSzPts val="900"/>
              <a:buFont typeface="Calibri"/>
              <a:buNone/>
            </a:pPr>
            <a:r>
              <a:rPr b="0" i="0" lang="fr" sz="900" u="none" cap="none" strike="noStrike">
                <a:solidFill>
                  <a:srgbClr val="211B38"/>
                </a:solidFill>
                <a:latin typeface="Calibri"/>
                <a:ea typeface="Calibri"/>
                <a:cs typeface="Calibri"/>
                <a:sym typeface="Calibri"/>
              </a:rPr>
              <a:t>85 % de textes dupliqués MAIS = retweets mécaniques. Hors-RT, le copier-coller réel est faible (max x9). Pas de preuve d'orchestration.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4666869" y="2846070"/>
            <a:ext cx="2606040" cy="174879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4872609" y="3051810"/>
            <a:ext cx="342900" cy="3429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4872609" y="305181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fr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5318379" y="3065526"/>
            <a:ext cx="18516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ambria"/>
              <a:buNone/>
            </a:pPr>
            <a:r>
              <a:rPr b="1" i="0" lang="fr" sz="1200" u="none" cap="none" strike="noStrike">
                <a:solidFill>
                  <a:srgbClr val="0EA5E9"/>
                </a:solidFill>
                <a:latin typeface="Cambria"/>
                <a:ea typeface="Cambria"/>
                <a:cs typeface="Cambria"/>
                <a:sym typeface="Cambria"/>
              </a:rPr>
              <a:t>SÉMANTIQUE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5318379" y="3284982"/>
            <a:ext cx="18516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80"/>
              </a:buClr>
              <a:buSzPts val="900"/>
              <a:buFont typeface="Calibri"/>
              <a:buNone/>
            </a:pPr>
            <a:r>
              <a:rPr b="0" i="1" lang="fr" sz="900" u="none" cap="none" strike="noStrike">
                <a:solidFill>
                  <a:srgbClr val="6B6480"/>
                </a:solidFill>
                <a:latin typeface="Calibri"/>
                <a:ea typeface="Calibri"/>
                <a:cs typeface="Calibri"/>
                <a:sym typeface="Calibri"/>
              </a:rPr>
              <a:t>Sur quel ton 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4872609" y="3586734"/>
            <a:ext cx="2228850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B38"/>
              </a:buClr>
              <a:buSzPts val="900"/>
              <a:buFont typeface="Calibri"/>
              <a:buNone/>
            </a:pPr>
            <a:r>
              <a:rPr b="0" i="0" lang="fr" sz="900" u="none" cap="none" strike="noStrike">
                <a:solidFill>
                  <a:srgbClr val="211B38"/>
                </a:solidFill>
                <a:latin typeface="Calibri"/>
                <a:ea typeface="Calibri"/>
                <a:cs typeface="Calibri"/>
                <a:sym typeface="Calibri"/>
              </a:rPr>
              <a:t>31 % de messages négatifs, pics à 42 %. La tension monte AVANT le volume (dès le 25 mars), culmine pendant, retombe le 31.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F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/>
          <p:nvPr/>
        </p:nvSpPr>
        <p:spPr>
          <a:xfrm>
            <a:off x="480060" y="34290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B38"/>
              </a:buClr>
              <a:buSzPts val="2300"/>
              <a:buFont typeface="Cambria"/>
              <a:buNone/>
            </a:pPr>
            <a:r>
              <a:rPr b="1" i="0" lang="fr" sz="2300" u="none" cap="none" strike="noStrike">
                <a:solidFill>
                  <a:srgbClr val="211B38"/>
                </a:solidFill>
                <a:latin typeface="Cambria"/>
                <a:ea typeface="Cambria"/>
                <a:cs typeface="Cambria"/>
                <a:sym typeface="Cambria"/>
              </a:rPr>
              <a:t>Coordination — attention au faux signal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480060" y="836676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80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6B6480"/>
                </a:solidFill>
                <a:latin typeface="Calibri"/>
                <a:ea typeface="Calibri"/>
                <a:cs typeface="Calibri"/>
                <a:sym typeface="Calibri"/>
              </a:rPr>
              <a:t>Le chiffre brut crie « orchestration ». En le décomposant, il dit surtout « retweets ».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480060" y="1440180"/>
            <a:ext cx="4011930" cy="2948940"/>
          </a:xfrm>
          <a:prstGeom prst="roundRect">
            <a:avLst>
              <a:gd fmla="val 1860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720090" y="168021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fr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CE QUE DIT LE CHIFFRE BRUT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720090" y="1988820"/>
            <a:ext cx="3429000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5000"/>
              <a:buFont typeface="Cambria"/>
              <a:buNone/>
            </a:pPr>
            <a:r>
              <a:rPr b="1" i="0" lang="fr" sz="5000" u="none" cap="none" strike="noStrike">
                <a:solidFill>
                  <a:srgbClr val="DC2626"/>
                </a:solidFill>
                <a:latin typeface="Cambria"/>
                <a:ea typeface="Cambria"/>
                <a:cs typeface="Cambria"/>
                <a:sym typeface="Cambria"/>
              </a:rPr>
              <a:t>85 %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720090" y="2880360"/>
            <a:ext cx="3566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B38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211B38"/>
                </a:solidFill>
                <a:latin typeface="Calibri"/>
                <a:ea typeface="Calibri"/>
                <a:cs typeface="Calibri"/>
                <a:sym typeface="Calibri"/>
              </a:rPr>
              <a:t>des messages sont des textes dupliqués.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720090" y="3257550"/>
            <a:ext cx="3566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6480"/>
              </a:buClr>
              <a:buSzPts val="1000"/>
              <a:buFont typeface="Calibri"/>
              <a:buNone/>
            </a:pPr>
            <a:r>
              <a:rPr b="0" i="1" lang="fr" sz="1000" u="none" cap="none" strike="noStrike">
                <a:solidFill>
                  <a:srgbClr val="6B6480"/>
                </a:solidFill>
                <a:latin typeface="Calibri"/>
                <a:ea typeface="Calibri"/>
                <a:cs typeface="Calibri"/>
                <a:sym typeface="Calibri"/>
              </a:rPr>
              <a:t>Lecture naïve : « des centaines de comptes copient-collent les mêmes messages → c'est orchestré. »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4629150" y="1440180"/>
            <a:ext cx="4011930" cy="2948940"/>
          </a:xfrm>
          <a:prstGeom prst="roundRect">
            <a:avLst>
              <a:gd fmla="val 1860" name="adj"/>
            </a:avLst>
          </a:prstGeom>
          <a:solidFill>
            <a:srgbClr val="1A1430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4869180" y="168021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fr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CE QUE DIT L'ANALYSE FINE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4869180" y="198882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300"/>
              <a:buFont typeface="Cambria"/>
              <a:buNone/>
            </a:pPr>
            <a:r>
              <a:rPr b="1" i="0" lang="fr" sz="33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35 396 → 5 710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4869180" y="2708910"/>
            <a:ext cx="36347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messages bruts → textes réellement uniques.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4869180" y="3086100"/>
            <a:ext cx="3634740" cy="1165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9C0E2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C9C0E2"/>
                </a:solidFill>
                <a:latin typeface="Calibri"/>
                <a:ea typeface="Calibri"/>
                <a:cs typeface="Calibri"/>
                <a:sym typeface="Calibri"/>
              </a:rPr>
              <a:t>En retirant les retweets et les URLs, 84 % du volume disparaît : c'était de la reprise mécanique. Le copier-coller coordonné réel (hors-RT) reste faible — max x9. Pas de preuve d'orchestration.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F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/>
          <p:nvPr/>
        </p:nvSpPr>
        <p:spPr>
          <a:xfrm>
            <a:off x="480060" y="34290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B38"/>
              </a:buClr>
              <a:buSzPts val="2300"/>
              <a:buFont typeface="Cambria"/>
              <a:buNone/>
            </a:pPr>
            <a:r>
              <a:rPr b="1" i="0" lang="fr" sz="2300" u="none" cap="none" strike="noStrike">
                <a:solidFill>
                  <a:srgbClr val="211B38"/>
                </a:solidFill>
                <a:latin typeface="Cambria"/>
                <a:ea typeface="Cambria"/>
                <a:cs typeface="Cambria"/>
                <a:sym typeface="Cambria"/>
              </a:rPr>
              <a:t>Le ton monte avant le volume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480060" y="836676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80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6B6480"/>
                </a:solidFill>
                <a:latin typeface="Calibri"/>
                <a:ea typeface="Calibri"/>
                <a:cs typeface="Calibri"/>
                <a:sym typeface="Calibri"/>
              </a:rPr>
              <a:t>Part de messages négatifs par jour (%). La négativité culmine dès le 25 mars — la veille du pic de volume.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" y="1371600"/>
            <a:ext cx="5692140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/>
          <p:nvPr/>
        </p:nvSpPr>
        <p:spPr>
          <a:xfrm>
            <a:off x="6412230" y="1371600"/>
            <a:ext cx="2228850" cy="3154680"/>
          </a:xfrm>
          <a:prstGeom prst="roundRect">
            <a:avLst>
              <a:gd fmla="val 2462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6583680" y="157734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CE QU'ON EN RETIENT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6583680" y="2162002"/>
            <a:ext cx="123300" cy="1233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6789420" y="1885950"/>
            <a:ext cx="174879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B38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211B38"/>
                </a:solidFill>
                <a:latin typeface="Calibri"/>
                <a:ea typeface="Calibri"/>
                <a:cs typeface="Calibri"/>
                <a:sym typeface="Calibri"/>
              </a:rPr>
              <a:t>66 % neutre, 31 % négatif, 3 % positif sur l'ensemble.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6583680" y="2950672"/>
            <a:ext cx="123300" cy="1233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2"/>
          <p:cNvSpPr/>
          <p:nvPr/>
        </p:nvSpPr>
        <p:spPr>
          <a:xfrm>
            <a:off x="6789420" y="2674620"/>
            <a:ext cx="174879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B38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211B38"/>
                </a:solidFill>
                <a:latin typeface="Calibri"/>
                <a:ea typeface="Calibri"/>
                <a:cs typeface="Calibri"/>
                <a:sym typeface="Calibri"/>
              </a:rPr>
              <a:t>La colère précède l'explosion : signal d'alerte exploitable.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6583680" y="3760990"/>
            <a:ext cx="123300" cy="1233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6789420" y="3463290"/>
            <a:ext cx="174879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1B38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211B38"/>
                </a:solidFill>
                <a:latin typeface="Calibri"/>
                <a:ea typeface="Calibri"/>
                <a:cs typeface="Calibri"/>
                <a:sym typeface="Calibri"/>
              </a:rPr>
              <a:t>Retombée du ton dès le 31 — la crise s'essouffle vite.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43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/>
          <p:nvPr/>
        </p:nvSpPr>
        <p:spPr>
          <a:xfrm>
            <a:off x="480060" y="37719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i="0" lang="fr" sz="2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Ce qu'on va construire : un pipeline d'agents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480060" y="877824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0D6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B9B0D6"/>
                </a:solidFill>
                <a:latin typeface="Calibri"/>
                <a:ea typeface="Calibri"/>
                <a:cs typeface="Calibri"/>
                <a:sym typeface="Calibri"/>
              </a:rPr>
              <a:t>L'analyse nourrit les idées. Notre piste : trois agents spécialisés, enchaînés, pour outiller la cellule de crise du CNC — réutilisable sur d'autres crises.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480060" y="1474470"/>
            <a:ext cx="2606040" cy="1851660"/>
          </a:xfrm>
          <a:prstGeom prst="roundRect">
            <a:avLst>
              <a:gd fmla="val 2963" name="adj"/>
            </a:avLst>
          </a:prstGeom>
          <a:solidFill>
            <a:srgbClr val="26203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3"/>
          <p:cNvSpPr/>
          <p:nvPr/>
        </p:nvSpPr>
        <p:spPr>
          <a:xfrm>
            <a:off x="720090" y="1680210"/>
            <a:ext cx="2057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80"/>
              </a:buClr>
              <a:buSzPts val="800"/>
              <a:buFont typeface="Calibri"/>
              <a:buNone/>
            </a:pPr>
            <a:r>
              <a:rPr b="1" i="0" lang="fr" sz="800" u="none" cap="none" strike="noStrike">
                <a:solidFill>
                  <a:srgbClr val="6B6480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720090" y="1865376"/>
            <a:ext cx="21259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700"/>
              <a:buFont typeface="Cambria"/>
              <a:buNone/>
            </a:pPr>
            <a:r>
              <a:rPr b="1" i="0" lang="fr" sz="17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ANALYSTE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720090" y="2263140"/>
            <a:ext cx="216027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9C0E2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C9C0E2"/>
                </a:solidFill>
                <a:latin typeface="Calibri"/>
                <a:ea typeface="Calibri"/>
                <a:cs typeface="Calibri"/>
                <a:sym typeface="Calibri"/>
              </a:rPr>
              <a:t>Comprendre le corpus : pics, narratifs, acteurs amplifiés.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3072384" y="2023110"/>
            <a:ext cx="3429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480"/>
              </a:buClr>
              <a:buSzPts val="2100"/>
              <a:buFont typeface="Cambria"/>
              <a:buNone/>
            </a:pPr>
            <a:r>
              <a:rPr b="1" i="0" lang="fr" sz="2100" u="none" cap="none" strike="noStrike">
                <a:solidFill>
                  <a:srgbClr val="6B6480"/>
                </a:solidFill>
                <a:latin typeface="Cambria"/>
                <a:ea typeface="Cambria"/>
                <a:cs typeface="Cambria"/>
                <a:sym typeface="Cambria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3271266" y="1474470"/>
            <a:ext cx="2606040" cy="1851660"/>
          </a:xfrm>
          <a:prstGeom prst="roundRect">
            <a:avLst>
              <a:gd fmla="val 2963" name="adj"/>
            </a:avLst>
          </a:prstGeom>
          <a:solidFill>
            <a:srgbClr val="26203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3511296" y="1680210"/>
            <a:ext cx="2057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80"/>
              </a:buClr>
              <a:buSzPts val="800"/>
              <a:buFont typeface="Calibri"/>
              <a:buNone/>
            </a:pPr>
            <a:r>
              <a:rPr b="1" i="0" lang="fr" sz="800" u="none" cap="none" strike="noStrike">
                <a:solidFill>
                  <a:srgbClr val="6B6480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3511296" y="1865376"/>
            <a:ext cx="21259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700"/>
              <a:buFont typeface="Cambria"/>
              <a:buNone/>
            </a:pPr>
            <a:r>
              <a:rPr b="1" i="0" lang="fr" sz="1700" u="none" cap="none" strike="noStrike">
                <a:solidFill>
                  <a:srgbClr val="7C3AED"/>
                </a:solidFill>
                <a:latin typeface="Cambria"/>
                <a:ea typeface="Cambria"/>
                <a:cs typeface="Cambria"/>
                <a:sym typeface="Cambria"/>
              </a:rPr>
              <a:t>STRATÈGE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3511296" y="2263140"/>
            <a:ext cx="216027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9C0E2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C9C0E2"/>
                </a:solidFill>
                <a:latin typeface="Calibri"/>
                <a:ea typeface="Calibri"/>
                <a:cs typeface="Calibri"/>
                <a:sym typeface="Calibri"/>
              </a:rPr>
              <a:t>Aide à la décision : répondre, temporiser ou se taire — et pourquoi.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5863590" y="2023110"/>
            <a:ext cx="3429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480"/>
              </a:buClr>
              <a:buSzPts val="2100"/>
              <a:buFont typeface="Cambria"/>
              <a:buNone/>
            </a:pPr>
            <a:r>
              <a:rPr b="1" i="0" lang="fr" sz="2100" u="none" cap="none" strike="noStrike">
                <a:solidFill>
                  <a:srgbClr val="6B6480"/>
                </a:solidFill>
                <a:latin typeface="Cambria"/>
                <a:ea typeface="Cambria"/>
                <a:cs typeface="Cambria"/>
                <a:sym typeface="Cambria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6062472" y="1474470"/>
            <a:ext cx="2606040" cy="1851660"/>
          </a:xfrm>
          <a:prstGeom prst="roundRect">
            <a:avLst>
              <a:gd fmla="val 2963" name="adj"/>
            </a:avLst>
          </a:prstGeom>
          <a:solidFill>
            <a:srgbClr val="26203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6302502" y="1680210"/>
            <a:ext cx="2057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80"/>
              </a:buClr>
              <a:buSzPts val="800"/>
              <a:buFont typeface="Calibri"/>
              <a:buNone/>
            </a:pPr>
            <a:r>
              <a:rPr b="1" i="0" lang="fr" sz="800" u="none" cap="none" strike="noStrike">
                <a:solidFill>
                  <a:srgbClr val="6B6480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6302502" y="1865376"/>
            <a:ext cx="21259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700"/>
              <a:buFont typeface="Cambria"/>
              <a:buNone/>
            </a:pPr>
            <a:r>
              <a:rPr b="1" i="0" lang="fr" sz="1700" u="none" cap="none" strike="noStrike">
                <a:solidFill>
                  <a:srgbClr val="EA580C"/>
                </a:solidFill>
                <a:latin typeface="Cambria"/>
                <a:ea typeface="Cambria"/>
                <a:cs typeface="Cambria"/>
                <a:sym typeface="Cambria"/>
              </a:rPr>
              <a:t>RÉDACTEUR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6302502" y="2263140"/>
            <a:ext cx="216027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9C0E2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C9C0E2"/>
                </a:solidFill>
                <a:latin typeface="Calibri"/>
                <a:ea typeface="Calibri"/>
                <a:cs typeface="Calibri"/>
                <a:sym typeface="Calibri"/>
              </a:rPr>
              <a:t>Proposer une riposte, toujours validée par un humain.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480060" y="3497580"/>
            <a:ext cx="8161020" cy="788670"/>
          </a:xfrm>
          <a:prstGeom prst="roundRect">
            <a:avLst>
              <a:gd fmla="val 6957" name="adj"/>
            </a:avLst>
          </a:prstGeom>
          <a:solidFill>
            <a:srgbClr val="5B21B6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685800" y="3497580"/>
            <a:ext cx="774954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Orchestrateur — </a:t>
            </a:r>
            <a:r>
              <a:rPr b="0" i="0" lang="fr" sz="1100" u="none" cap="none" strike="noStrike">
                <a:solidFill>
                  <a:srgbClr val="EDE9FB"/>
                </a:solidFill>
                <a:latin typeface="Calibri"/>
                <a:ea typeface="Calibri"/>
                <a:cs typeface="Calibri"/>
                <a:sym typeface="Calibri"/>
              </a:rPr>
              <a:t>un chef d'orchestre enchaîne les trois agents : du corpus brut jusqu'à la riposte prête à valider. Un seul produit, pas trois outils isolés.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FA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24"/>
          <p:cNvGrpSpPr/>
          <p:nvPr/>
        </p:nvGrpSpPr>
        <p:grpSpPr>
          <a:xfrm>
            <a:off x="476250" y="1714500"/>
            <a:ext cx="8191500" cy="1714500"/>
            <a:chOff x="476250" y="1714500"/>
            <a:chExt cx="8191500" cy="1714500"/>
          </a:xfrm>
        </p:grpSpPr>
        <p:sp>
          <p:nvSpPr>
            <p:cNvPr id="236" name="Google Shape;236;p24"/>
            <p:cNvSpPr txBox="1"/>
            <p:nvPr/>
          </p:nvSpPr>
          <p:spPr>
            <a:xfrm>
              <a:off x="476250" y="1714500"/>
              <a:ext cx="8191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3600">
                  <a:solidFill>
                    <a:srgbClr val="211B38"/>
                  </a:solidFill>
                  <a:latin typeface="Cambria"/>
                  <a:ea typeface="Cambria"/>
                  <a:cs typeface="Cambria"/>
                  <a:sym typeface="Cambria"/>
                </a:rPr>
                <a:t>Annexes</a:t>
              </a:r>
              <a:endParaRPr b="1" sz="3600">
                <a:solidFill>
                  <a:srgbClr val="211B38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237" name="Google Shape;237;p24"/>
            <p:cNvSpPr/>
            <p:nvPr/>
          </p:nvSpPr>
          <p:spPr>
            <a:xfrm>
              <a:off x="4095750" y="2952750"/>
              <a:ext cx="952500" cy="38100"/>
            </a:xfrm>
            <a:prstGeom prst="roundRect">
              <a:avLst>
                <a:gd fmla="val 50000" name="adj"/>
              </a:avLst>
            </a:prstGeom>
            <a:solidFill>
              <a:srgbClr val="5B21B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FA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5"/>
          <p:cNvSpPr/>
          <p:nvPr/>
        </p:nvSpPr>
        <p:spPr>
          <a:xfrm>
            <a:off x="480060" y="34290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1B38"/>
              </a:buClr>
              <a:buSzPts val="2300"/>
              <a:buFont typeface="Cambria"/>
              <a:buNone/>
            </a:pPr>
            <a:r>
              <a:rPr b="1" i="0" lang="fr" sz="2300" u="none" cap="none" strike="noStrike">
                <a:solidFill>
                  <a:srgbClr val="211B38"/>
                </a:solidFill>
                <a:latin typeface="Cambria"/>
                <a:ea typeface="Cambria"/>
                <a:cs typeface="Cambria"/>
                <a:sym typeface="Cambria"/>
              </a:rPr>
              <a:t>Acteurs — une foule derrière quelques têtes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480060" y="836676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80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6B6480"/>
                </a:solidFill>
                <a:latin typeface="Calibri"/>
                <a:ea typeface="Calibri"/>
                <a:cs typeface="Calibri"/>
                <a:sym typeface="Calibri"/>
              </a:rPr>
              <a:t>La crise ne vient pas de gros comptes isolés : une masse d'anonymes amplifie une poignée de comptes très repris.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5897880" y="1371600"/>
            <a:ext cx="2743200" cy="3154680"/>
          </a:xfrm>
          <a:prstGeom prst="roundRect">
            <a:avLst>
              <a:gd fmla="val 2000" name="adj"/>
            </a:avLst>
          </a:prstGeom>
          <a:solidFill>
            <a:srgbClr val="1A1430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5"/>
          <p:cNvSpPr/>
          <p:nvPr/>
        </p:nvSpPr>
        <p:spPr>
          <a:xfrm>
            <a:off x="6069330" y="1543050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LA TYPOLOGIE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6069330" y="1920240"/>
            <a:ext cx="9601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2400"/>
              <a:buFont typeface="Cambria"/>
              <a:buNone/>
            </a:pPr>
            <a:r>
              <a:rPr b="1" i="0" lang="fr" sz="2400" u="none" cap="none" strike="noStrike">
                <a:solidFill>
                  <a:srgbClr val="EA580C"/>
                </a:solidFill>
                <a:latin typeface="Cambria"/>
                <a:ea typeface="Cambria"/>
                <a:cs typeface="Cambria"/>
                <a:sym typeface="Cambria"/>
              </a:rPr>
              <a:t>74 %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6995160" y="1933956"/>
            <a:ext cx="154305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C0E2"/>
              </a:buClr>
              <a:buSzPts val="900"/>
              <a:buFont typeface="Calibri"/>
              <a:buNone/>
            </a:pPr>
            <a:r>
              <a:rPr b="0" i="0" lang="fr" sz="900" u="none" cap="none" strike="noStrike">
                <a:solidFill>
                  <a:srgbClr val="C9C0E2"/>
                </a:solidFill>
                <a:latin typeface="Calibri"/>
                <a:ea typeface="Calibri"/>
                <a:cs typeface="Calibri"/>
                <a:sym typeface="Calibri"/>
              </a:rPr>
              <a:t>des comptes ont moins de 1 000 abonnés → une foule d'anonymes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6069330" y="2743200"/>
            <a:ext cx="9601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2400"/>
              <a:buFont typeface="Cambria"/>
              <a:buNone/>
            </a:pPr>
            <a:r>
              <a:rPr b="1" i="0" lang="fr" sz="2400" u="none" cap="none" strike="noStrike">
                <a:solidFill>
                  <a:srgbClr val="EA580C"/>
                </a:solidFill>
                <a:latin typeface="Cambria"/>
                <a:ea typeface="Cambria"/>
                <a:cs typeface="Cambria"/>
                <a:sym typeface="Cambria"/>
              </a:rPr>
              <a:t>8 %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6995160" y="2756916"/>
            <a:ext cx="154305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C0E2"/>
              </a:buClr>
              <a:buSzPts val="900"/>
              <a:buFont typeface="Calibri"/>
              <a:buNone/>
            </a:pPr>
            <a:r>
              <a:rPr b="0" i="0" lang="fr" sz="900" u="none" cap="none" strike="noStrike">
                <a:solidFill>
                  <a:srgbClr val="C9C0E2"/>
                </a:solidFill>
                <a:latin typeface="Calibri"/>
                <a:ea typeface="Calibri"/>
                <a:cs typeface="Calibri"/>
                <a:sym typeface="Calibri"/>
              </a:rPr>
              <a:t>de comptes certifiés → la crise n'est pas portée par des institutions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6069330" y="3566160"/>
            <a:ext cx="9601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2400"/>
              <a:buFont typeface="Cambria"/>
              <a:buNone/>
            </a:pPr>
            <a:r>
              <a:rPr b="1" i="0" lang="fr" sz="2400" u="none" cap="none" strike="noStrike">
                <a:solidFill>
                  <a:srgbClr val="EA580C"/>
                </a:solidFill>
                <a:latin typeface="Cambria"/>
                <a:ea typeface="Cambria"/>
                <a:cs typeface="Cambria"/>
                <a:sym typeface="Cambria"/>
              </a:rPr>
              <a:t>47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6995160" y="3579876"/>
            <a:ext cx="154305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C0E2"/>
              </a:buClr>
              <a:buSzPts val="900"/>
              <a:buFont typeface="Calibri"/>
              <a:buNone/>
            </a:pPr>
            <a:r>
              <a:rPr b="0" i="0" lang="fr" sz="900" u="none" cap="none" strike="noStrike">
                <a:solidFill>
                  <a:srgbClr val="C9C0E2"/>
                </a:solidFill>
                <a:latin typeface="Calibri"/>
                <a:ea typeface="Calibri"/>
                <a:cs typeface="Calibri"/>
                <a:sym typeface="Calibri"/>
              </a:rPr>
              <a:t>comptes seulement dépassent 100k abonnés → les vrais relais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405" y="1331975"/>
            <a:ext cx="5319070" cy="319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